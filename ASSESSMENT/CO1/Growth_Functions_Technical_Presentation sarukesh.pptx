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67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5B6672"/>
                </a:solidFill>
                <a:latin typeface="Calibri"/>
              </a:rPr>
              <a:t>Operations required vs. input size 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O(log n)</c:v>
                </c:pt>
              </c:strCache>
            </c:strRef>
          </c:tx>
          <c:spPr>
            <a:ln w="34925" cap="flat">
              <a:solidFill>
                <a:srgbClr val="2FA84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FA84F"/>
              </a:solidFill>
              <a:ln w="9525" cap="flat">
                <a:solidFill>
                  <a:srgbClr val="2FA84F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1.58</c:v>
                </c:pt>
                <c:pt idx="3">
                  <c:v>2</c:v>
                </c:pt>
                <c:pt idx="4">
                  <c:v>2.3199999999999998</c:v>
                </c:pt>
                <c:pt idx="5">
                  <c:v>2.58</c:v>
                </c:pt>
                <c:pt idx="6">
                  <c:v>2.81</c:v>
                </c:pt>
                <c:pt idx="7">
                  <c:v>3</c:v>
                </c:pt>
                <c:pt idx="8">
                  <c:v>3.17</c:v>
                </c:pt>
                <c:pt idx="9">
                  <c:v>3.32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A7-44FF-B5B6-E1C12D70AA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O(n)</c:v>
                </c:pt>
              </c:strCache>
            </c:strRef>
          </c:tx>
          <c:spPr>
            <a:ln w="34925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A7-44FF-B5B6-E1C12D70AA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 log n)</c:v>
                </c:pt>
              </c:strCache>
            </c:strRef>
          </c:tx>
          <c:spPr>
            <a:ln w="34925" cap="flat">
              <a:solidFill>
                <a:srgbClr val="0B3D9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B3D91"/>
              </a:solidFill>
              <a:ln w="9525" cap="flat">
                <a:solidFill>
                  <a:srgbClr val="0B3D9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2</c:v>
                </c:pt>
                <c:pt idx="2">
                  <c:v>4.75</c:v>
                </c:pt>
                <c:pt idx="3">
                  <c:v>8</c:v>
                </c:pt>
                <c:pt idx="4">
                  <c:v>11.6</c:v>
                </c:pt>
                <c:pt idx="5">
                  <c:v>15.51</c:v>
                </c:pt>
                <c:pt idx="6">
                  <c:v>19.649999999999999</c:v>
                </c:pt>
                <c:pt idx="7">
                  <c:v>24</c:v>
                </c:pt>
                <c:pt idx="8">
                  <c:v>28.53</c:v>
                </c:pt>
                <c:pt idx="9">
                  <c:v>33.200000000000003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4A7-44FF-B5B6-E1C12D70AA1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O(n²)</c:v>
                </c:pt>
              </c:strCache>
            </c:strRef>
          </c:tx>
          <c:spPr>
            <a:ln w="34925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  <c:pt idx="8">
                  <c:v>81</c:v>
                </c:pt>
                <c:pt idx="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4A7-44FF-B5B6-E1C12D70AA1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O(2ⁿ)</c:v>
                </c:pt>
              </c:strCache>
            </c:strRef>
          </c:tx>
          <c:spPr>
            <a:ln w="34925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  <c:pt idx="6">
                  <c:v>128</c:v>
                </c:pt>
                <c:pt idx="7">
                  <c:v>256</c:v>
                </c:pt>
                <c:pt idx="8">
                  <c:v>512</c:v>
                </c:pt>
                <c:pt idx="9">
                  <c:v>1024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4A7-44FF-B5B6-E1C12D70A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2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5B6672"/>
                    </a:solidFill>
                    <a:latin typeface="Arial"/>
                  </a:rPr>
                  <a:t>Input size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2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5B6672"/>
                    </a:solidFill>
                    <a:latin typeface="Arial"/>
                  </a:rPr>
                  <a:t>Operations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77" y="213853"/>
            <a:ext cx="8229600" cy="1143000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77" y="1698522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  <a:defRPr sz="2200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Visualization-Based Technical Presentation on Growth Functions</a:t>
            </a:r>
          </a:p>
          <a:p>
            <a:pPr marL="0" indent="0" algn="ctr">
              <a:buNone/>
              <a:defRPr sz="2200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CSA0615 – DESIGN AND ANALYSIS OF ALGORITHMS</a:t>
            </a:r>
          </a:p>
          <a:p>
            <a:pPr marL="0" indent="0" algn="ctr">
              <a:buNone/>
              <a:defRPr sz="2200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                                                                                       PRESENTED BY: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  <a:defRPr sz="22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SARUKESH(192521046)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080D4-5D0B-AB8B-9ECD-C155BCBFEC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0994" y="235975"/>
            <a:ext cx="8007767" cy="1120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F778BB-621B-1C81-78C3-5864662F6A23}"/>
              </a:ext>
            </a:extLst>
          </p:cNvPr>
          <p:cNvSpPr txBox="1"/>
          <p:nvPr/>
        </p:nvSpPr>
        <p:spPr>
          <a:xfrm>
            <a:off x="358877" y="4434348"/>
            <a:ext cx="2079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DR.G.NAGARAJAN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7974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functions show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running time of an algorithm changes as the input size (n) increases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us compare algorithms and decide which one is faster and more efficient.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comparing growth functions is to: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algorithm efficiency.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how performance changes when data becomes larger.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algorithms using graphs and tables.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best algorithm for solving a problem.</a:t>
            </a:r>
          </a:p>
          <a:p>
            <a:pPr>
              <a:lnSpc>
                <a:spcPct val="150000"/>
              </a:lnSpc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94968" y="609600"/>
            <a:ext cx="8981768" cy="80803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Comparison Table</a:t>
            </a:r>
            <a:br>
              <a:rPr lang="en-IN" b="1" dirty="0"/>
            </a:br>
            <a:endParaRPr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19DF274-63A6-D271-2F20-AA1E450F92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999064"/>
              </p:ext>
            </p:extLst>
          </p:nvPr>
        </p:nvGraphicFramePr>
        <p:xfrm>
          <a:off x="457200" y="1809135"/>
          <a:ext cx="8460660" cy="374568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10110">
                  <a:extLst>
                    <a:ext uri="{9D8B030D-6E8A-4147-A177-3AD203B41FA5}">
                      <a16:colId xmlns:a16="http://schemas.microsoft.com/office/drawing/2014/main" val="4201455254"/>
                    </a:ext>
                  </a:extLst>
                </a:gridCol>
                <a:gridCol w="1410110">
                  <a:extLst>
                    <a:ext uri="{9D8B030D-6E8A-4147-A177-3AD203B41FA5}">
                      <a16:colId xmlns:a16="http://schemas.microsoft.com/office/drawing/2014/main" val="3052281262"/>
                    </a:ext>
                  </a:extLst>
                </a:gridCol>
                <a:gridCol w="1410110">
                  <a:extLst>
                    <a:ext uri="{9D8B030D-6E8A-4147-A177-3AD203B41FA5}">
                      <a16:colId xmlns:a16="http://schemas.microsoft.com/office/drawing/2014/main" val="1444712678"/>
                    </a:ext>
                  </a:extLst>
                </a:gridCol>
                <a:gridCol w="1410110">
                  <a:extLst>
                    <a:ext uri="{9D8B030D-6E8A-4147-A177-3AD203B41FA5}">
                      <a16:colId xmlns:a16="http://schemas.microsoft.com/office/drawing/2014/main" val="2461144581"/>
                    </a:ext>
                  </a:extLst>
                </a:gridCol>
                <a:gridCol w="1410110">
                  <a:extLst>
                    <a:ext uri="{9D8B030D-6E8A-4147-A177-3AD203B41FA5}">
                      <a16:colId xmlns:a16="http://schemas.microsoft.com/office/drawing/2014/main" val="942492011"/>
                    </a:ext>
                  </a:extLst>
                </a:gridCol>
                <a:gridCol w="1410110">
                  <a:extLst>
                    <a:ext uri="{9D8B030D-6E8A-4147-A177-3AD203B41FA5}">
                      <a16:colId xmlns:a16="http://schemas.microsoft.com/office/drawing/2014/main" val="1242075881"/>
                    </a:ext>
                  </a:extLst>
                </a:gridCol>
              </a:tblGrid>
              <a:tr h="40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Input 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 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O(2ⁿ)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122821"/>
                  </a:ext>
                </a:extLst>
              </a:tr>
              <a:tr h="40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268725"/>
                  </a:ext>
                </a:extLst>
              </a:tr>
              <a:tr h="40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972656"/>
                  </a:ext>
                </a:extLst>
              </a:tr>
              <a:tr h="40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96584"/>
                  </a:ext>
                </a:extLst>
              </a:tr>
              <a:tr h="40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65,536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409555"/>
                  </a:ext>
                </a:extLst>
              </a:tr>
              <a:tr h="708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4,294,967,296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632400"/>
                  </a:ext>
                </a:extLst>
              </a:tr>
              <a:tr h="1012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4,096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18,446,744,073,709,551,616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0695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Analysis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4" y="934065"/>
            <a:ext cx="8996516" cy="6017341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Functions Graph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clearly shows that: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almost a straight line because it grows very slowly.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increases at a constant rate.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grows slightly faster than O(n).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rises quickly when the input becomes larger.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O(2ⁿ)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increases extremely fast and is much higher than all the other functions</a:t>
            </a:r>
          </a:p>
          <a:p>
            <a:pPr>
              <a:defRPr sz="2200"/>
            </a:pPr>
            <a:endParaRPr dirty="0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D06FF145-AD5C-CF6B-5E96-5129AEFD1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7613883"/>
              </p:ext>
            </p:extLst>
          </p:nvPr>
        </p:nvGraphicFramePr>
        <p:xfrm>
          <a:off x="147485" y="1417638"/>
          <a:ext cx="8539316" cy="2702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function analysis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1EDC01-FE1A-C2DB-7CEE-EBE3A3D470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444943"/>
              </p:ext>
            </p:extLst>
          </p:nvPr>
        </p:nvGraphicFramePr>
        <p:xfrm>
          <a:off x="629263" y="1637598"/>
          <a:ext cx="7531509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10503">
                  <a:extLst>
                    <a:ext uri="{9D8B030D-6E8A-4147-A177-3AD203B41FA5}">
                      <a16:colId xmlns:a16="http://schemas.microsoft.com/office/drawing/2014/main" val="1680333794"/>
                    </a:ext>
                  </a:extLst>
                </a:gridCol>
                <a:gridCol w="2510503">
                  <a:extLst>
                    <a:ext uri="{9D8B030D-6E8A-4147-A177-3AD203B41FA5}">
                      <a16:colId xmlns:a16="http://schemas.microsoft.com/office/drawing/2014/main" val="617155268"/>
                    </a:ext>
                  </a:extLst>
                </a:gridCol>
                <a:gridCol w="2510503">
                  <a:extLst>
                    <a:ext uri="{9D8B030D-6E8A-4147-A177-3AD203B41FA5}">
                      <a16:colId xmlns:a16="http://schemas.microsoft.com/office/drawing/2014/main" val="608309355"/>
                    </a:ext>
                  </a:extLst>
                </a:gridCol>
              </a:tblGrid>
              <a:tr h="324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603679"/>
                  </a:ext>
                </a:extLst>
              </a:tr>
              <a:tr h="324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663037"/>
                  </a:ext>
                </a:extLst>
              </a:tr>
              <a:tr h="324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09454"/>
                  </a:ext>
                </a:extLst>
              </a:tr>
              <a:tr h="324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log n)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 Sort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89209"/>
                  </a:ext>
                </a:extLst>
              </a:tr>
              <a:tr h="324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for large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Bubble Sort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622456"/>
                  </a:ext>
                </a:extLst>
              </a:tr>
              <a:tr h="324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O(2ⁿ)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Brute Force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9202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E849FE-3E5D-E272-4025-2C0D07C66B16}"/>
              </a:ext>
            </a:extLst>
          </p:cNvPr>
          <p:cNvSpPr txBox="1"/>
          <p:nvPr/>
        </p:nvSpPr>
        <p:spPr>
          <a:xfrm>
            <a:off x="334296" y="3960678"/>
            <a:ext cx="8495072" cy="2125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Fastest among these; works efficiently for large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Efficient; running time increases linearly with input size.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Very efficient; commonly used in algorithms like Merge Sort.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only for small datasets due to rapid growth.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O(2ⁿ):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Impractical for large problems because running time grows exponentially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87" y="1417638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functions are essential for understanding how algorithms scale with increasing input size.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comparing different growth functions using tables and graphs, we can clearly observe their performance differences.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execution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resource consumption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overall system performance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lang="en-IN" dirty="0"/>
              <a:t>                                                           </a:t>
            </a:r>
          </a:p>
          <a:p>
            <a:pPr marL="0" indent="0">
              <a:buNone/>
              <a:defRPr sz="2200"/>
            </a:pPr>
            <a:endParaRPr lang="en-IN" dirty="0"/>
          </a:p>
          <a:p>
            <a:pPr marL="0" indent="0">
              <a:buNone/>
              <a:defRPr sz="2200"/>
            </a:pPr>
            <a:r>
              <a:rPr lang="en-IN" sz="2200" dirty="0"/>
              <a:t>                                      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438</Words>
  <Application>Microsoft Office PowerPoint</Application>
  <PresentationFormat>On-screen Show (4:3)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introduction</vt:lpstr>
      <vt:lpstr>Comparison Table </vt:lpstr>
      <vt:lpstr>Graph Analysis </vt:lpstr>
      <vt:lpstr>Growth function analysis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Visualization-Based Technical Presentation on Growth Functions</dc:title>
  <dc:subject/>
  <dc:creator>Sarukesh A</dc:creator>
  <cp:keywords/>
  <dc:description>generated using python-pptx</dc:description>
  <cp:lastModifiedBy>Sarukesh A</cp:lastModifiedBy>
  <cp:revision>3</cp:revision>
  <dcterms:created xsi:type="dcterms:W3CDTF">2013-01-27T09:14:16Z</dcterms:created>
  <dcterms:modified xsi:type="dcterms:W3CDTF">2026-07-20T04:55:43Z</dcterms:modified>
  <cp:category/>
</cp:coreProperties>
</file>